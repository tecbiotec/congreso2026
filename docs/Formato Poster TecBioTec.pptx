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</p:sldIdLst>
  <p:sldSz cx="32399288" cy="43200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6C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0" d="100"/>
          <a:sy n="30" d="100"/>
        </p:scale>
        <p:origin x="79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7070108"/>
            <a:ext cx="27539395" cy="15040222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22690338"/>
            <a:ext cx="24299466" cy="10430151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72039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5346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10770172"/>
            <a:ext cx="27944386" cy="17970262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28910440"/>
            <a:ext cx="27944386" cy="9450136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>
                    <a:tint val="82000"/>
                  </a:schemeClr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82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82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9304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11500170"/>
            <a:ext cx="13769697" cy="2741040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11500170"/>
            <a:ext cx="13769697" cy="2741040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5680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300044"/>
            <a:ext cx="27944386" cy="8350126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10590160"/>
            <a:ext cx="13706415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15780233"/>
            <a:ext cx="13706415" cy="2321034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10590160"/>
            <a:ext cx="13773917" cy="5190073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15780233"/>
            <a:ext cx="13773917" cy="2321034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4872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21343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9836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6220102"/>
            <a:ext cx="16402140" cy="30700453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4593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2880042"/>
            <a:ext cx="10449614" cy="10080149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6220102"/>
            <a:ext cx="16402140" cy="30700453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12960191"/>
            <a:ext cx="10449614" cy="24010358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0101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8069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2300034"/>
            <a:ext cx="6986096" cy="36610544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2300034"/>
            <a:ext cx="20553298" cy="36610544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53294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2300044"/>
            <a:ext cx="27944386" cy="8350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11500170"/>
            <a:ext cx="27944386" cy="27410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9F3312-0C28-44DD-A1C6-F03FBCB8F7D7}" type="datetimeFigureOut">
              <a:rPr lang="LID4096" smtClean="0"/>
              <a:t>03/20/2026</a:t>
            </a:fld>
            <a:endParaRPr lang="LID4096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40040601"/>
            <a:ext cx="1093476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40040601"/>
            <a:ext cx="7289840" cy="23000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5E5E4-E959-4624-A927-66A3F668289F}" type="slidenum">
              <a:rPr lang="LID4096" smtClean="0"/>
              <a:t>‹Nº›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81288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13" Type="http://schemas.openxmlformats.org/officeDocument/2006/relationships/image" Target="../media/image12.jpg"/><Relationship Id="rId18" Type="http://schemas.openxmlformats.org/officeDocument/2006/relationships/image" Target="../media/image17.jpg"/><Relationship Id="rId3" Type="http://schemas.openxmlformats.org/officeDocument/2006/relationships/image" Target="../media/image2.png"/><Relationship Id="rId21" Type="http://schemas.openxmlformats.org/officeDocument/2006/relationships/image" Target="../media/image20.jpg"/><Relationship Id="rId7" Type="http://schemas.openxmlformats.org/officeDocument/2006/relationships/image" Target="../media/image6.jpg"/><Relationship Id="rId12" Type="http://schemas.openxmlformats.org/officeDocument/2006/relationships/image" Target="../media/image11.jpg"/><Relationship Id="rId17" Type="http://schemas.openxmlformats.org/officeDocument/2006/relationships/image" Target="../media/image16.jpg"/><Relationship Id="rId2" Type="http://schemas.openxmlformats.org/officeDocument/2006/relationships/image" Target="../media/image1.png"/><Relationship Id="rId16" Type="http://schemas.openxmlformats.org/officeDocument/2006/relationships/image" Target="../media/image15.jpg"/><Relationship Id="rId20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jpg"/><Relationship Id="rId24" Type="http://schemas.openxmlformats.org/officeDocument/2006/relationships/image" Target="../media/image23.jpg"/><Relationship Id="rId5" Type="http://schemas.openxmlformats.org/officeDocument/2006/relationships/image" Target="../media/image4.png"/><Relationship Id="rId15" Type="http://schemas.openxmlformats.org/officeDocument/2006/relationships/image" Target="../media/image14.jpg"/><Relationship Id="rId23" Type="http://schemas.openxmlformats.org/officeDocument/2006/relationships/image" Target="../media/image22.jpg"/><Relationship Id="rId10" Type="http://schemas.openxmlformats.org/officeDocument/2006/relationships/image" Target="../media/image9.jpg"/><Relationship Id="rId19" Type="http://schemas.openxmlformats.org/officeDocument/2006/relationships/image" Target="../media/image18.jpg"/><Relationship Id="rId4" Type="http://schemas.openxmlformats.org/officeDocument/2006/relationships/image" Target="../media/image3.png"/><Relationship Id="rId9" Type="http://schemas.openxmlformats.org/officeDocument/2006/relationships/image" Target="../media/image8.jpg"/><Relationship Id="rId14" Type="http://schemas.openxmlformats.org/officeDocument/2006/relationships/image" Target="../media/image13.jpg"/><Relationship Id="rId22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2B8EE134-23BB-071D-A001-54C92A620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" y="0"/>
            <a:ext cx="32398954" cy="4320063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6ADAEC9E-7149-5FFD-2DC7-1F49EC3AA51E}"/>
              </a:ext>
            </a:extLst>
          </p:cNvPr>
          <p:cNvSpPr txBox="1"/>
          <p:nvPr/>
        </p:nvSpPr>
        <p:spPr>
          <a:xfrm>
            <a:off x="1895815" y="3581089"/>
            <a:ext cx="2860765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8000" b="1" i="0" dirty="0">
                <a:solidFill>
                  <a:srgbClr val="316CF4"/>
                </a:solidFill>
                <a:effectLst/>
                <a:latin typeface="UTECtxt Black"/>
              </a:rPr>
              <a:t>Título del Poster</a:t>
            </a:r>
          </a:p>
          <a:p>
            <a:pPr algn="ctr"/>
            <a:r>
              <a:rPr lang="es-ES" sz="8000" dirty="0">
                <a:solidFill>
                  <a:srgbClr val="316CF4"/>
                </a:solidFill>
                <a:latin typeface="UTECtxt Black"/>
              </a:rPr>
              <a:t>L</a:t>
            </a:r>
            <a:r>
              <a:rPr lang="es-ES" sz="8000" i="0" dirty="0">
                <a:solidFill>
                  <a:srgbClr val="316CF4"/>
                </a:solidFill>
                <a:effectLst/>
                <a:latin typeface="UTECtxt Black"/>
              </a:rPr>
              <a:t>etras grandes y visibles (al menos 72 puntos).</a:t>
            </a:r>
          </a:p>
          <a:p>
            <a:pPr algn="ctr"/>
            <a:r>
              <a:rPr lang="es-ES" sz="8000" i="0" dirty="0">
                <a:solidFill>
                  <a:srgbClr val="316CF4"/>
                </a:solidFill>
                <a:effectLst/>
                <a:latin typeface="UTECtxt Black"/>
              </a:rPr>
              <a:t>El título debe ser breve y representativo del contenido del trabajo.</a:t>
            </a:r>
            <a:endParaRPr lang="es-419" sz="8000" b="1" i="0" dirty="0">
              <a:solidFill>
                <a:srgbClr val="316CF4"/>
              </a:solidFill>
              <a:effectLst/>
              <a:latin typeface="UTECtxt Black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835553B-2CAA-A2C0-A9A3-6DB365F451FE}"/>
              </a:ext>
            </a:extLst>
          </p:cNvPr>
          <p:cNvSpPr txBox="1"/>
          <p:nvPr/>
        </p:nvSpPr>
        <p:spPr>
          <a:xfrm>
            <a:off x="1895814" y="8027141"/>
            <a:ext cx="28607657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i="0" dirty="0">
                <a:effectLst/>
                <a:latin typeface="UTECtxt Black"/>
              </a:rPr>
              <a:t>Autores y Afiliaciones</a:t>
            </a:r>
          </a:p>
          <a:p>
            <a:pPr algn="ctr"/>
            <a:r>
              <a:rPr lang="es-ES" sz="5000" dirty="0">
                <a:latin typeface="UTECtxt Black"/>
              </a:rPr>
              <a:t>N</a:t>
            </a:r>
            <a:r>
              <a:rPr lang="es-ES" sz="5000" i="0" dirty="0">
                <a:effectLst/>
                <a:latin typeface="UTECtxt Black"/>
              </a:rPr>
              <a:t>ombres de los autores y sus respectivas instituciones, correos electrónicos u otra información de contacto.</a:t>
            </a:r>
          </a:p>
          <a:p>
            <a:pPr algn="ctr"/>
            <a:r>
              <a:rPr lang="es-ES" sz="5000" i="0" dirty="0">
                <a:effectLst/>
                <a:latin typeface="UTECtxt Black"/>
              </a:rPr>
              <a:t>Tamaño de letra sugerido para autores: 36-50 puntos.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6F70A52-56EF-145D-19C2-DA20D213B5B4}"/>
              </a:ext>
            </a:extLst>
          </p:cNvPr>
          <p:cNvSpPr txBox="1"/>
          <p:nvPr/>
        </p:nvSpPr>
        <p:spPr>
          <a:xfrm>
            <a:off x="1895813" y="11088198"/>
            <a:ext cx="28607657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i="0" dirty="0">
                <a:solidFill>
                  <a:srgbClr val="316CF4"/>
                </a:solidFill>
                <a:effectLst/>
                <a:latin typeface="UTECtxt Black"/>
              </a:rPr>
              <a:t>1. Resumen</a:t>
            </a:r>
          </a:p>
          <a:p>
            <a:pPr algn="ctr"/>
            <a:endParaRPr lang="es-ES" sz="4000" b="1" i="0" dirty="0">
              <a:effectLst/>
              <a:latin typeface="UTECtxt Black"/>
            </a:endParaRPr>
          </a:p>
          <a:p>
            <a:pPr algn="just"/>
            <a:r>
              <a:rPr lang="es-ES" sz="4000" i="0" dirty="0">
                <a:effectLst/>
                <a:latin typeface="UTECtxt Black"/>
              </a:rPr>
              <a:t>Colocar un breve resumen de 100-200 palabras que capture la esencia del trabajo, similar al resumen presentado inicialmente. Debe resumir el objetivo, la metodología y los resultados principales.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113A105-18CF-1EFC-F3BF-6C5675AB9E59}"/>
              </a:ext>
            </a:extLst>
          </p:cNvPr>
          <p:cNvSpPr txBox="1"/>
          <p:nvPr/>
        </p:nvSpPr>
        <p:spPr>
          <a:xfrm>
            <a:off x="1442245" y="14461999"/>
            <a:ext cx="14303831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dirty="0">
                <a:solidFill>
                  <a:srgbClr val="316CF4"/>
                </a:solidFill>
                <a:latin typeface="UTECtxt Black"/>
              </a:rPr>
              <a:t>2</a:t>
            </a:r>
            <a:r>
              <a:rPr lang="es-ES" sz="5000" b="1" i="0" dirty="0">
                <a:solidFill>
                  <a:srgbClr val="316CF4"/>
                </a:solidFill>
                <a:effectLst/>
                <a:latin typeface="UTECtxt Black"/>
              </a:rPr>
              <a:t>. Breve contexto del problema o pregunta de investigación </a:t>
            </a:r>
          </a:p>
          <a:p>
            <a:pPr algn="ctr"/>
            <a:endParaRPr lang="es-ES" sz="4000" i="0" dirty="0">
              <a:effectLst/>
              <a:latin typeface="UTECtxt Black"/>
            </a:endParaRPr>
          </a:p>
          <a:p>
            <a:pPr algn="just"/>
            <a:r>
              <a:rPr lang="es-ES" sz="4000" i="0" dirty="0">
                <a:effectLst/>
                <a:latin typeface="UTECtxt Black"/>
              </a:rPr>
              <a:t>Utilizar gráficos, diagramas o imágenes que ayuden a contextualizar el tema.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Tamaño de letra sugerido: 30-40 puntos, para facilitar la lectura a distancia.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A91D683E-14E4-71C3-6606-E07661EBB17B}"/>
              </a:ext>
            </a:extLst>
          </p:cNvPr>
          <p:cNvSpPr txBox="1"/>
          <p:nvPr/>
        </p:nvSpPr>
        <p:spPr>
          <a:xfrm>
            <a:off x="16653213" y="14461999"/>
            <a:ext cx="14303831" cy="3939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i="0" dirty="0">
                <a:solidFill>
                  <a:srgbClr val="316CF4"/>
                </a:solidFill>
                <a:effectLst/>
                <a:latin typeface="UTECtxt Black"/>
              </a:rPr>
              <a:t>3. Metodología</a:t>
            </a:r>
          </a:p>
          <a:p>
            <a:pPr algn="just"/>
            <a:endParaRPr lang="es-ES" sz="4000" i="0" dirty="0">
              <a:effectLst/>
              <a:latin typeface="UTECtxt Black"/>
            </a:endParaRPr>
          </a:p>
          <a:p>
            <a:pPr algn="just"/>
            <a:r>
              <a:rPr lang="es-ES" sz="4000" i="0" dirty="0">
                <a:effectLst/>
                <a:latin typeface="UTECtxt Black"/>
              </a:rPr>
              <a:t>Contenido: Explicación concisa de los métodos empleados en el estudio. Incluir diagramas de flujo, esquemas o fotos del equipo o técnicas utilizadas.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Tamaño de letra sugerido: 30-40 puntos.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C96274B-48B8-58A8-5489-F27A7C4152B3}"/>
              </a:ext>
            </a:extLst>
          </p:cNvPr>
          <p:cNvSpPr txBox="1"/>
          <p:nvPr/>
        </p:nvSpPr>
        <p:spPr>
          <a:xfrm>
            <a:off x="3508187" y="20926157"/>
            <a:ext cx="85676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000" b="1" i="0" dirty="0">
                <a:solidFill>
                  <a:srgbClr val="212529"/>
                </a:solidFill>
                <a:effectLst/>
                <a:latin typeface="UTECtxt Roman"/>
              </a:rPr>
              <a:t>Eje temático: Innovaciones Tecnológicas y Robóticas.</a:t>
            </a:r>
            <a:endParaRPr lang="LID4096" sz="300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05D97EC0-F8C3-5455-E1E8-06113E2DE30D}"/>
              </a:ext>
            </a:extLst>
          </p:cNvPr>
          <p:cNvSpPr txBox="1"/>
          <p:nvPr/>
        </p:nvSpPr>
        <p:spPr>
          <a:xfrm>
            <a:off x="3508187" y="22327729"/>
            <a:ext cx="85676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000" b="1" i="0" dirty="0">
                <a:solidFill>
                  <a:srgbClr val="212529"/>
                </a:solidFill>
                <a:effectLst/>
                <a:latin typeface="UTECtxt Roman"/>
              </a:rPr>
              <a:t>Eje temático: Logística y Cadena de abastecimiento.</a:t>
            </a:r>
            <a:endParaRPr lang="LID4096" sz="300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0B97775-55DD-25F1-D6E3-0D6AD25C10C6}"/>
              </a:ext>
            </a:extLst>
          </p:cNvPr>
          <p:cNvSpPr txBox="1"/>
          <p:nvPr/>
        </p:nvSpPr>
        <p:spPr>
          <a:xfrm>
            <a:off x="3508187" y="23729301"/>
            <a:ext cx="85676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000" b="1" i="0" dirty="0">
                <a:solidFill>
                  <a:srgbClr val="212529"/>
                </a:solidFill>
                <a:effectLst/>
                <a:latin typeface="UTECtxt Roman"/>
              </a:rPr>
              <a:t>Eje temático: Ciencia y Tecnología de Alimentos.</a:t>
            </a:r>
            <a:endParaRPr lang="LID4096" sz="300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F8CF415-2BEB-CD6F-E6B7-7F864C7DCA82}"/>
              </a:ext>
            </a:extLst>
          </p:cNvPr>
          <p:cNvSpPr txBox="1"/>
          <p:nvPr/>
        </p:nvSpPr>
        <p:spPr>
          <a:xfrm>
            <a:off x="3494484" y="25130873"/>
            <a:ext cx="856767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000" b="1" i="0" dirty="0">
                <a:solidFill>
                  <a:srgbClr val="212529"/>
                </a:solidFill>
                <a:effectLst/>
                <a:latin typeface="UTECtxt Roman"/>
              </a:rPr>
              <a:t>Eje temático: Sostenibilidad y Medio Ambiente.</a:t>
            </a:r>
            <a:endParaRPr lang="LID4096" sz="3000" dirty="0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DC6E52C1-6764-99DD-2D4E-30DC8FDD0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809" y="20663156"/>
            <a:ext cx="1163075" cy="1080000"/>
          </a:xfrm>
          <a:prstGeom prst="rect">
            <a:avLst/>
          </a:prstGeom>
        </p:spPr>
      </p:pic>
      <p:pic>
        <p:nvPicPr>
          <p:cNvPr id="34" name="Imagen 33">
            <a:extLst>
              <a:ext uri="{FF2B5EF4-FFF2-40B4-BE49-F238E27FC236}">
                <a16:creationId xmlns:a16="http://schemas.microsoft.com/office/drawing/2014/main" id="{11BEDD26-CD61-7D2C-0004-9E9B992B07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8169" y="22064728"/>
            <a:ext cx="1091343" cy="1080000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3851F3DB-C8E4-9784-82B1-E960701175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2196" y="23466300"/>
            <a:ext cx="979411" cy="1080000"/>
          </a:xfrm>
          <a:prstGeom prst="rect">
            <a:avLst/>
          </a:prstGeom>
        </p:spPr>
      </p:pic>
      <p:pic>
        <p:nvPicPr>
          <p:cNvPr id="37" name="Imagen 36">
            <a:extLst>
              <a:ext uri="{FF2B5EF4-FFF2-40B4-BE49-F238E27FC236}">
                <a16:creationId xmlns:a16="http://schemas.microsoft.com/office/drawing/2014/main" id="{4086B9BD-2504-298F-25F7-83A599177B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809" y="24867872"/>
            <a:ext cx="1080000" cy="1080000"/>
          </a:xfrm>
          <a:prstGeom prst="rect">
            <a:avLst/>
          </a:prstGeom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0EFD9C85-93E4-59C4-1C19-691F740B3B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34600" y="19989209"/>
            <a:ext cx="1800000" cy="1800000"/>
          </a:xfrm>
          <a:prstGeom prst="rect">
            <a:avLst/>
          </a:prstGeom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E1C6A468-7270-B1D3-FE95-701565938A4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7690" y="19989209"/>
            <a:ext cx="1800000" cy="1800000"/>
          </a:xfrm>
          <a:prstGeom prst="rect">
            <a:avLst/>
          </a:prstGeom>
        </p:spPr>
      </p:pic>
      <p:pic>
        <p:nvPicPr>
          <p:cNvPr id="42" name="Imagen 41">
            <a:extLst>
              <a:ext uri="{FF2B5EF4-FFF2-40B4-BE49-F238E27FC236}">
                <a16:creationId xmlns:a16="http://schemas.microsoft.com/office/drawing/2014/main" id="{701AAB44-54FA-6655-BA25-1D617B15F4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0780" y="19991049"/>
            <a:ext cx="1800000" cy="1800000"/>
          </a:xfrm>
          <a:prstGeom prst="rect">
            <a:avLst/>
          </a:prstGeom>
        </p:spPr>
      </p:pic>
      <p:pic>
        <p:nvPicPr>
          <p:cNvPr id="43" name="Imagen 42">
            <a:extLst>
              <a:ext uri="{FF2B5EF4-FFF2-40B4-BE49-F238E27FC236}">
                <a16:creationId xmlns:a16="http://schemas.microsoft.com/office/drawing/2014/main" id="{9EF3A733-8944-CAB0-03AF-EB53B053B0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48912" y="19996363"/>
            <a:ext cx="1800000" cy="1800000"/>
          </a:xfrm>
          <a:prstGeom prst="rect">
            <a:avLst/>
          </a:prstGeom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DC412139-108D-6FBA-99D0-B83A163D9D1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7044" y="19996363"/>
            <a:ext cx="1800000" cy="1800000"/>
          </a:xfrm>
          <a:prstGeom prst="rect">
            <a:avLst/>
          </a:prstGeom>
        </p:spPr>
      </p:pic>
      <p:pic>
        <p:nvPicPr>
          <p:cNvPr id="45" name="Imagen 44">
            <a:extLst>
              <a:ext uri="{FF2B5EF4-FFF2-40B4-BE49-F238E27FC236}">
                <a16:creationId xmlns:a16="http://schemas.microsoft.com/office/drawing/2014/main" id="{CE063CAA-5923-77D8-6DF0-9BA415D6FD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31" y="21971082"/>
            <a:ext cx="1800000" cy="1800000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406E4A01-FF0F-A337-2586-8CC5F1BF8DDC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1828" y="21971082"/>
            <a:ext cx="1800000" cy="1800000"/>
          </a:xfrm>
          <a:prstGeom prst="rect">
            <a:avLst/>
          </a:prstGeom>
        </p:spPr>
      </p:pic>
      <p:pic>
        <p:nvPicPr>
          <p:cNvPr id="47" name="Imagen 46">
            <a:extLst>
              <a:ext uri="{FF2B5EF4-FFF2-40B4-BE49-F238E27FC236}">
                <a16:creationId xmlns:a16="http://schemas.microsoft.com/office/drawing/2014/main" id="{41E3A201-1B15-863C-2E55-15916863E90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0780" y="21974343"/>
            <a:ext cx="1800000" cy="1800000"/>
          </a:xfrm>
          <a:prstGeom prst="rect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B9B4D32E-886F-B422-4581-388376C3D12D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48912" y="21974473"/>
            <a:ext cx="1800000" cy="1800000"/>
          </a:xfrm>
          <a:prstGeom prst="rect">
            <a:avLst/>
          </a:prstGeom>
        </p:spPr>
      </p:pic>
      <p:pic>
        <p:nvPicPr>
          <p:cNvPr id="49" name="Imagen 48">
            <a:extLst>
              <a:ext uri="{FF2B5EF4-FFF2-40B4-BE49-F238E27FC236}">
                <a16:creationId xmlns:a16="http://schemas.microsoft.com/office/drawing/2014/main" id="{2C764445-6E72-5427-606F-4B41ADBB4C9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7044" y="21974473"/>
            <a:ext cx="1800000" cy="1800000"/>
          </a:xfrm>
          <a:prstGeom prst="rect">
            <a:avLst/>
          </a:prstGeom>
        </p:spPr>
      </p:pic>
      <p:pic>
        <p:nvPicPr>
          <p:cNvPr id="50" name="Imagen 49">
            <a:extLst>
              <a:ext uri="{FF2B5EF4-FFF2-40B4-BE49-F238E27FC236}">
                <a16:creationId xmlns:a16="http://schemas.microsoft.com/office/drawing/2014/main" id="{8E90E53B-56B2-0CA7-E960-015FBBC59B4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4415" y="23959477"/>
            <a:ext cx="1800000" cy="1800000"/>
          </a:xfrm>
          <a:prstGeom prst="rect">
            <a:avLst/>
          </a:prstGeom>
        </p:spPr>
      </p:pic>
      <p:pic>
        <p:nvPicPr>
          <p:cNvPr id="51" name="Imagen 50">
            <a:extLst>
              <a:ext uri="{FF2B5EF4-FFF2-40B4-BE49-F238E27FC236}">
                <a16:creationId xmlns:a16="http://schemas.microsoft.com/office/drawing/2014/main" id="{4B1B95EE-890B-C45B-E4A6-CE225D4636E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1828" y="23959477"/>
            <a:ext cx="1800000" cy="1800000"/>
          </a:xfrm>
          <a:prstGeom prst="rect">
            <a:avLst/>
          </a:prstGeom>
        </p:spPr>
      </p:pic>
      <p:pic>
        <p:nvPicPr>
          <p:cNvPr id="52" name="Imagen 51">
            <a:extLst>
              <a:ext uri="{FF2B5EF4-FFF2-40B4-BE49-F238E27FC236}">
                <a16:creationId xmlns:a16="http://schemas.microsoft.com/office/drawing/2014/main" id="{B32818C7-D137-9236-6FCC-760AB4FC6B63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0780" y="23952583"/>
            <a:ext cx="1800000" cy="1800000"/>
          </a:xfrm>
          <a:prstGeom prst="rect">
            <a:avLst/>
          </a:prstGeom>
        </p:spPr>
      </p:pic>
      <p:pic>
        <p:nvPicPr>
          <p:cNvPr id="53" name="Imagen 52">
            <a:extLst>
              <a:ext uri="{FF2B5EF4-FFF2-40B4-BE49-F238E27FC236}">
                <a16:creationId xmlns:a16="http://schemas.microsoft.com/office/drawing/2014/main" id="{B15CD631-B6AB-8F16-F773-01D765F4538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48912" y="23952583"/>
            <a:ext cx="1800000" cy="1800000"/>
          </a:xfrm>
          <a:prstGeom prst="rect">
            <a:avLst/>
          </a:prstGeom>
        </p:spPr>
      </p:pic>
      <p:pic>
        <p:nvPicPr>
          <p:cNvPr id="54" name="Imagen 53">
            <a:extLst>
              <a:ext uri="{FF2B5EF4-FFF2-40B4-BE49-F238E27FC236}">
                <a16:creationId xmlns:a16="http://schemas.microsoft.com/office/drawing/2014/main" id="{35521885-EEE4-490D-3876-9CE248098D4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7044" y="23959477"/>
            <a:ext cx="1800000" cy="1800000"/>
          </a:xfrm>
          <a:prstGeom prst="rect">
            <a:avLst/>
          </a:prstGeom>
        </p:spPr>
      </p:pic>
      <p:pic>
        <p:nvPicPr>
          <p:cNvPr id="55" name="Imagen 54">
            <a:extLst>
              <a:ext uri="{FF2B5EF4-FFF2-40B4-BE49-F238E27FC236}">
                <a16:creationId xmlns:a16="http://schemas.microsoft.com/office/drawing/2014/main" id="{47E180D4-7917-EA30-4D7F-704D40DC3DA3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0780" y="25947872"/>
            <a:ext cx="1803863" cy="1800000"/>
          </a:xfrm>
          <a:prstGeom prst="rect">
            <a:avLst/>
          </a:prstGeom>
        </p:spPr>
      </p:pic>
      <p:pic>
        <p:nvPicPr>
          <p:cNvPr id="56" name="Imagen 55">
            <a:extLst>
              <a:ext uri="{FF2B5EF4-FFF2-40B4-BE49-F238E27FC236}">
                <a16:creationId xmlns:a16="http://schemas.microsoft.com/office/drawing/2014/main" id="{71C0836A-211D-4047-F647-483DE7298CAA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4415" y="25947872"/>
            <a:ext cx="1800000" cy="1800000"/>
          </a:xfrm>
          <a:prstGeom prst="rect">
            <a:avLst/>
          </a:prstGeom>
        </p:spPr>
      </p:pic>
      <p:pic>
        <p:nvPicPr>
          <p:cNvPr id="57" name="Imagen 56">
            <a:extLst>
              <a:ext uri="{FF2B5EF4-FFF2-40B4-BE49-F238E27FC236}">
                <a16:creationId xmlns:a16="http://schemas.microsoft.com/office/drawing/2014/main" id="{54CC5753-A415-3A5C-141C-FD1F6C583BD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1828" y="25947872"/>
            <a:ext cx="1800000" cy="1800000"/>
          </a:xfrm>
          <a:prstGeom prst="rect">
            <a:avLst/>
          </a:prstGeom>
        </p:spPr>
      </p:pic>
      <p:sp>
        <p:nvSpPr>
          <p:cNvPr id="58" name="CuadroTexto 57">
            <a:extLst>
              <a:ext uri="{FF2B5EF4-FFF2-40B4-BE49-F238E27FC236}">
                <a16:creationId xmlns:a16="http://schemas.microsoft.com/office/drawing/2014/main" id="{F171F77C-32BE-AA3E-3645-0321CB951CF5}"/>
              </a:ext>
            </a:extLst>
          </p:cNvPr>
          <p:cNvSpPr txBox="1"/>
          <p:nvPr/>
        </p:nvSpPr>
        <p:spPr>
          <a:xfrm>
            <a:off x="12900929" y="19989209"/>
            <a:ext cx="7787371" cy="624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b="0" i="0" dirty="0">
                <a:solidFill>
                  <a:srgbClr val="212529"/>
                </a:solidFill>
                <a:effectLst/>
                <a:latin typeface="UTECtxt Roman"/>
              </a:rPr>
              <a:t>El </a:t>
            </a:r>
            <a:r>
              <a:rPr lang="es-ES" sz="4000" b="0" i="0" dirty="0">
                <a:solidFill>
                  <a:srgbClr val="316CF4"/>
                </a:solidFill>
                <a:effectLst/>
                <a:latin typeface="UTECtxt Roman"/>
              </a:rPr>
              <a:t>25 de septiembre de 2015</a:t>
            </a:r>
            <a:r>
              <a:rPr lang="es-ES" sz="4000" b="0" i="0" dirty="0">
                <a:solidFill>
                  <a:srgbClr val="212529"/>
                </a:solidFill>
                <a:effectLst/>
                <a:latin typeface="UTECtxt Roman"/>
              </a:rPr>
              <a:t>, los líderes mundiales adoptaron un</a:t>
            </a:r>
            <a:r>
              <a:rPr lang="es-ES" sz="4000" b="0" i="0" dirty="0">
                <a:effectLst/>
                <a:latin typeface="UTECtxt Roman"/>
              </a:rPr>
              <a:t> conjunto </a:t>
            </a:r>
            <a:r>
              <a:rPr lang="es-ES" sz="4000" b="0" i="0" dirty="0">
                <a:solidFill>
                  <a:srgbClr val="212529"/>
                </a:solidFill>
                <a:effectLst/>
                <a:latin typeface="UTECtxt Roman"/>
              </a:rPr>
              <a:t>de o</a:t>
            </a:r>
            <a:r>
              <a:rPr lang="es-ES" sz="4000" b="0" i="0" dirty="0">
                <a:effectLst/>
                <a:latin typeface="UTECtxt Roman"/>
              </a:rPr>
              <a:t>bjetivo</a:t>
            </a:r>
            <a:r>
              <a:rPr lang="es-ES" sz="4000" b="0" i="0" dirty="0">
                <a:solidFill>
                  <a:srgbClr val="212529"/>
                </a:solidFill>
                <a:effectLst/>
                <a:latin typeface="UTECtxt Roman"/>
              </a:rPr>
              <a:t>s globales para erradicar la pobreza, proteger el planeta y asegurar la prosperidad para todos como parte de una nueva agenda de desarrollo sostenible. Cada objetivo tiene metas específicas que deben alcanzarse en los próximos 15 años.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933DD00F-EDDF-2464-EB41-75DF58F2BE56}"/>
              </a:ext>
            </a:extLst>
          </p:cNvPr>
          <p:cNvSpPr txBox="1"/>
          <p:nvPr/>
        </p:nvSpPr>
        <p:spPr>
          <a:xfrm>
            <a:off x="1895809" y="30274753"/>
            <a:ext cx="8920955" cy="7632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dirty="0">
                <a:solidFill>
                  <a:srgbClr val="316CF4"/>
                </a:solidFill>
                <a:latin typeface="UTECtxt Black"/>
              </a:rPr>
              <a:t>4</a:t>
            </a:r>
            <a:r>
              <a:rPr lang="es-ES" sz="5000" b="1" i="0" dirty="0">
                <a:solidFill>
                  <a:srgbClr val="316CF4"/>
                </a:solidFill>
                <a:effectLst/>
                <a:latin typeface="UTECtxt Black"/>
              </a:rPr>
              <a:t>. Resultados</a:t>
            </a:r>
          </a:p>
          <a:p>
            <a:pPr algn="just"/>
            <a:endParaRPr lang="es-ES" sz="4000" i="0" dirty="0">
              <a:effectLst/>
              <a:latin typeface="UTECtxt Black"/>
            </a:endParaRPr>
          </a:p>
          <a:p>
            <a:pPr algn="just"/>
            <a:r>
              <a:rPr lang="es-ES" sz="4000" i="0" dirty="0">
                <a:effectLst/>
                <a:latin typeface="UTECtxt Black"/>
              </a:rPr>
              <a:t>Sección central y más importante del poster, donde se presentan los hallazgos clave.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Utilizar gráficos de barras, tablas, imágenes, mapas o diagramas claros que ilustren los datos.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Cada gráfico debe ir acompañado de un breve texto explicativo o leyenda.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Tamaño de letra sugerido para las leyendas: 30-40 puntos.</a:t>
            </a: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5A73945D-F9A2-C62B-49E1-698361E98E4D}"/>
              </a:ext>
            </a:extLst>
          </p:cNvPr>
          <p:cNvSpPr txBox="1"/>
          <p:nvPr/>
        </p:nvSpPr>
        <p:spPr>
          <a:xfrm>
            <a:off x="11739162" y="30274753"/>
            <a:ext cx="8920955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i="0" dirty="0">
                <a:solidFill>
                  <a:srgbClr val="316CF4"/>
                </a:solidFill>
                <a:effectLst/>
                <a:latin typeface="UTECtxt Black"/>
              </a:rPr>
              <a:t>5. Discusión</a:t>
            </a:r>
          </a:p>
          <a:p>
            <a:pPr algn="just"/>
            <a:endParaRPr lang="es-ES" sz="4000" i="0" dirty="0">
              <a:effectLst/>
              <a:latin typeface="UTECtxt Black"/>
            </a:endParaRPr>
          </a:p>
          <a:p>
            <a:pPr algn="just"/>
            <a:r>
              <a:rPr lang="es-ES" sz="4000" i="0" dirty="0">
                <a:effectLst/>
                <a:latin typeface="UTECtxt Black"/>
              </a:rPr>
              <a:t>Interpretación de los resultados. ¿Qué significan? ¿Cómo se relacionan con otros estudios?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Indicar las limitaciones y posibles implicaciones para el campo de estudio o aplicaciones prácticas.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Incluir solo el análisis más relevante y sintetizado.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Tamaño de letra sugerido: 30-40 puntos.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980D8952-5DA4-13CD-444D-0C313AC3A6E0}"/>
              </a:ext>
            </a:extLst>
          </p:cNvPr>
          <p:cNvSpPr txBox="1"/>
          <p:nvPr/>
        </p:nvSpPr>
        <p:spPr>
          <a:xfrm>
            <a:off x="21582515" y="30274753"/>
            <a:ext cx="8920955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i="0" dirty="0">
                <a:solidFill>
                  <a:srgbClr val="316CF4"/>
                </a:solidFill>
                <a:effectLst/>
                <a:latin typeface="UTECtxt Black"/>
              </a:rPr>
              <a:t>6. Conclusiones</a:t>
            </a:r>
          </a:p>
          <a:p>
            <a:pPr algn="just"/>
            <a:endParaRPr lang="es-ES" sz="4000" i="0" dirty="0">
              <a:effectLst/>
              <a:latin typeface="UTECtxt Black"/>
            </a:endParaRPr>
          </a:p>
          <a:p>
            <a:pPr algn="just"/>
            <a:r>
              <a:rPr lang="es-ES" sz="4000" i="0" dirty="0">
                <a:effectLst/>
                <a:latin typeface="UTECtxt Black"/>
              </a:rPr>
              <a:t>Contenido: Resumir en breves puntos los principales hallazgos y sus implicaciones.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También puede incluirse en formato de viñetas para mayor claridad.</a:t>
            </a:r>
          </a:p>
          <a:p>
            <a:pPr algn="just"/>
            <a:r>
              <a:rPr lang="es-ES" sz="4000" i="0" dirty="0">
                <a:effectLst/>
                <a:latin typeface="UTECtxt Black"/>
              </a:rPr>
              <a:t>Tamaño de letra sugerido: 30-40 puntos.</a:t>
            </a: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4FA9F33F-C69C-2379-B395-491487A23BB8}"/>
              </a:ext>
            </a:extLst>
          </p:cNvPr>
          <p:cNvSpPr txBox="1"/>
          <p:nvPr/>
        </p:nvSpPr>
        <p:spPr>
          <a:xfrm>
            <a:off x="1895809" y="38110287"/>
            <a:ext cx="23935991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5000" b="1" i="0" dirty="0">
                <a:solidFill>
                  <a:srgbClr val="316CF4"/>
                </a:solidFill>
                <a:effectLst/>
                <a:latin typeface="UTECtxt Black"/>
              </a:rPr>
              <a:t>1. Referencias</a:t>
            </a:r>
          </a:p>
          <a:p>
            <a:pPr algn="just"/>
            <a:endParaRPr lang="es-ES" sz="3000" b="1" dirty="0">
              <a:latin typeface="UTECtxt Black"/>
            </a:endParaRPr>
          </a:p>
          <a:p>
            <a:pPr algn="just"/>
            <a:r>
              <a:rPr lang="es-ES" sz="3000" i="0" dirty="0">
                <a:effectLst/>
                <a:latin typeface="UTECtxt Black"/>
              </a:rPr>
              <a:t>Incluir las citas más importantes, si es necesario. Esta sección suele ir en la parte inferior, en un tamaño de letra más pequeño (20-30 puntos).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3E5122A-68CC-8C3B-6168-86B8A23F2503}"/>
              </a:ext>
            </a:extLst>
          </p:cNvPr>
          <p:cNvSpPr/>
          <p:nvPr/>
        </p:nvSpPr>
        <p:spPr>
          <a:xfrm>
            <a:off x="27609286" y="38233859"/>
            <a:ext cx="4320000" cy="4320000"/>
          </a:xfrm>
          <a:prstGeom prst="rect">
            <a:avLst/>
          </a:prstGeom>
          <a:solidFill>
            <a:schemeClr val="bg1"/>
          </a:solidFill>
          <a:ln w="76200">
            <a:solidFill>
              <a:srgbClr val="316CF4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Y" sz="4000" b="1" dirty="0">
                <a:solidFill>
                  <a:srgbClr val="316CF4"/>
                </a:solidFill>
              </a:rPr>
              <a:t>Su QR va aquí</a:t>
            </a:r>
          </a:p>
          <a:p>
            <a:pPr algn="ctr"/>
            <a:r>
              <a:rPr lang="es-UY" sz="3200" dirty="0">
                <a:solidFill>
                  <a:srgbClr val="316CF4"/>
                </a:solidFill>
              </a:rPr>
              <a:t>Poster Digital</a:t>
            </a:r>
          </a:p>
          <a:p>
            <a:pPr algn="ctr"/>
            <a:endParaRPr lang="es-UY" sz="4000" dirty="0">
              <a:solidFill>
                <a:srgbClr val="316CF4"/>
              </a:solidFill>
            </a:endParaRPr>
          </a:p>
          <a:p>
            <a:pPr algn="ctr"/>
            <a:r>
              <a:rPr lang="es-UY" sz="3200" dirty="0">
                <a:solidFill>
                  <a:srgbClr val="316CF4"/>
                </a:solidFill>
              </a:rPr>
              <a:t>Y ampliación</a:t>
            </a:r>
          </a:p>
          <a:p>
            <a:pPr algn="ctr"/>
            <a:r>
              <a:rPr lang="es-UY" sz="3200" dirty="0">
                <a:solidFill>
                  <a:srgbClr val="316CF4"/>
                </a:solidFill>
              </a:rPr>
              <a:t>de la información</a:t>
            </a:r>
          </a:p>
          <a:p>
            <a:pPr algn="ctr"/>
            <a:r>
              <a:rPr lang="es-UY" sz="3200" dirty="0">
                <a:solidFill>
                  <a:srgbClr val="316CF4"/>
                </a:solidFill>
              </a:rPr>
              <a:t>de su trabajo</a:t>
            </a:r>
          </a:p>
          <a:p>
            <a:pPr algn="ctr"/>
            <a:r>
              <a:rPr lang="es-UY" sz="3200" dirty="0">
                <a:solidFill>
                  <a:srgbClr val="316CF4"/>
                </a:solidFill>
              </a:rPr>
              <a:t>(Si aplica)</a:t>
            </a:r>
          </a:p>
        </p:txBody>
      </p:sp>
    </p:spTree>
    <p:extLst>
      <p:ext uri="{BB962C8B-B14F-4D97-AF65-F5344CB8AC3E}">
        <p14:creationId xmlns:p14="http://schemas.microsoft.com/office/powerpoint/2010/main" val="12193513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3F8B217EB3BBA47A565926AA8C7987D" ma:contentTypeVersion="4" ma:contentTypeDescription="Create a new document." ma:contentTypeScope="" ma:versionID="7ec4e4e9d386c585f62dfc6387f1e6fc">
  <xsd:schema xmlns:xsd="http://www.w3.org/2001/XMLSchema" xmlns:xs="http://www.w3.org/2001/XMLSchema" xmlns:p="http://schemas.microsoft.com/office/2006/metadata/properties" xmlns:ns3="cf7bb671-8198-4b47-b509-909fc9b35554" targetNamespace="http://schemas.microsoft.com/office/2006/metadata/properties" ma:root="true" ma:fieldsID="1dfda49997bf404ac9fff91666b685ec" ns3:_="">
    <xsd:import namespace="cf7bb671-8198-4b47-b509-909fc9b3555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7bb671-8198-4b47-b509-909fc9b3555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9BF16A5-2603-4EF6-830D-D5A6DFB47F9C}">
  <ds:schemaRefs>
    <ds:schemaRef ds:uri="http://schemas.microsoft.com/office/2006/documentManagement/types"/>
    <ds:schemaRef ds:uri="http://purl.org/dc/dcmitype/"/>
    <ds:schemaRef ds:uri="http://www.w3.org/XML/1998/namespace"/>
    <ds:schemaRef ds:uri="cf7bb671-8198-4b47-b509-909fc9b35554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purl.org/dc/terms/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37A141FA-F374-4375-9ED1-B78A4A14258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9D926E-7ACB-4F24-8006-B0341B23C6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f7bb671-8198-4b47-b509-909fc9b3555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</TotalTime>
  <Words>451</Words>
  <Application>Microsoft Office PowerPoint</Application>
  <PresentationFormat>Personalizado</PresentationFormat>
  <Paragraphs>49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UTECtxt Black</vt:lpstr>
      <vt:lpstr>UTECtxt Roman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Pablo Franco Rubio</dc:creator>
  <cp:lastModifiedBy>Juan Pablo Franco Rubio</cp:lastModifiedBy>
  <cp:revision>7</cp:revision>
  <dcterms:created xsi:type="dcterms:W3CDTF">2024-09-18T23:41:23Z</dcterms:created>
  <dcterms:modified xsi:type="dcterms:W3CDTF">2026-03-20T04:27:53Z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0x01010023F8B217EB3BBA47A565926AA8C7987D</vt:lpwstr>
  </property>
</Properties>
</file>